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457200"/>
            <a:ext cx="4572000" cy="4572000"/>
          </a:xfrm>
          <a:prstGeom prst="ellipse">
            <a:avLst/>
          </a:prstGeom>
          <a:solidFill>
            <a:srgbClr val="357DF1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DC6FF"/>
          </a:solidFill>
          <a:ln/>
        </p:spPr>
      </p:sp>
      <p:sp>
        <p:nvSpPr>
          <p:cNvPr id="4" name="Shape 2"/>
          <p:cNvSpPr/>
          <p:nvPr/>
        </p:nvSpPr>
        <p:spPr>
          <a:xfrm>
            <a:off x="3794760" y="1005840"/>
            <a:ext cx="1554480" cy="1554480"/>
          </a:xfrm>
          <a:prstGeom prst="roundRect">
            <a:avLst>
              <a:gd name="adj" fmla="val 14706"/>
            </a:avLst>
          </a:prstGeom>
          <a:solidFill>
            <a:srgbClr val="171F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794760" y="1051560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ADC6FF"/>
                </a:solidFill>
              </a:rPr>
              <a:t>⚠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 Reporter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371600" y="35204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D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UVic Safer Through Student Action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200400" y="4297680"/>
            <a:ext cx="2743200" cy="36576"/>
          </a:xfrm>
          <a:prstGeom prst="rect">
            <a:avLst/>
          </a:prstGeom>
          <a:solidFill>
            <a:srgbClr val="357DF1">
              <a:alpha val="4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2286000" y="4480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400" kern="0" dirty="0">
                <a:solidFill>
                  <a:srgbClr val="9090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 Hackathon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AD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POTENTIAL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Problem. Specific People. Scalable Solution.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828800" cy="27432"/>
          </a:xfrm>
          <a:prstGeom prst="rect">
            <a:avLst/>
          </a:prstGeom>
          <a:solidFill>
            <a:srgbClr val="357DF1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63040"/>
            <a:ext cx="2560320" cy="2926080"/>
          </a:xfrm>
          <a:prstGeom prst="rect">
            <a:avLst/>
          </a:prstGeom>
          <a:solidFill>
            <a:srgbClr val="171F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54864" cy="2926080"/>
          </a:xfrm>
          <a:prstGeom prst="rect">
            <a:avLst/>
          </a:prstGeom>
          <a:solidFill>
            <a:srgbClr val="ADC6F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459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👥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2148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D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51460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AE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 students,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AE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&amp; visitors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83280" y="1463040"/>
            <a:ext cx="2560320" cy="2926080"/>
          </a:xfrm>
          <a:prstGeom prst="rect">
            <a:avLst/>
          </a:prstGeom>
          <a:solidFill>
            <a:srgbClr val="171F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463040"/>
            <a:ext cx="54864" cy="2926080"/>
          </a:xfrm>
          <a:prstGeom prst="rect">
            <a:avLst/>
          </a:prstGeom>
          <a:solidFill>
            <a:srgbClr val="EB4141"/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16459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🚨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611880" y="2148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B41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11880" y="251460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AE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is fragmented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AE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(forms, calls, supervisors)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AE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don't report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AE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hazards persist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1463040"/>
            <a:ext cx="2560320" cy="2926080"/>
          </a:xfrm>
          <a:prstGeom prst="rect">
            <a:avLst/>
          </a:prstGeom>
          <a:solidFill>
            <a:srgbClr val="171F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463040"/>
            <a:ext cx="54864" cy="2926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16459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446520" y="2148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46520" y="251460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AE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centralized platform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AE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student-friendly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AE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in seconds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303520" y="1463040"/>
            <a:ext cx="3474720" cy="2926080"/>
          </a:xfrm>
          <a:prstGeom prst="rect">
            <a:avLst/>
          </a:prstGeom>
          <a:solidFill>
            <a:srgbClr val="131B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57784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D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77840" y="21031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035040" y="21031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AE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hazard response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577840" y="26974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🛡️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035040" y="26974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AE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 campus for everyone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577840" y="32918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035040" y="32918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AE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to other universities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577840" y="38862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👁️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035040" y="3886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AE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hazard visibility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AD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EXECUTION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+ Purposeful AI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828800" cy="27432"/>
          </a:xfrm>
          <a:prstGeom prst="rect">
            <a:avLst/>
          </a:prstGeom>
          <a:solidFill>
            <a:srgbClr val="357DF1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63040"/>
            <a:ext cx="3840480" cy="3200400"/>
          </a:xfrm>
          <a:prstGeom prst="rect">
            <a:avLst/>
          </a:prstGeom>
          <a:solidFill>
            <a:srgbClr val="171F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54864" cy="3200400"/>
          </a:xfrm>
          <a:prstGeom prst="rect">
            <a:avLst/>
          </a:prstGeom>
          <a:solidFill>
            <a:srgbClr val="357DF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D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PROTOTYPE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68680" y="2167128"/>
            <a:ext cx="164592" cy="164592"/>
          </a:xfrm>
          <a:prstGeom prst="ellipse">
            <a:avLst/>
          </a:prstGeom>
          <a:solidFill>
            <a:srgbClr val="357DF1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2057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 </a:t>
            </a:r>
            <a:pPr indent="0" marL="0">
              <a:buNone/>
            </a:pPr>
            <a:r>
              <a:rPr lang="en-US" sz="1200" dirty="0">
                <a:solidFill>
                  <a:srgbClr val="9090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 + Tailwind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2670048"/>
            <a:ext cx="164592" cy="164592"/>
          </a:xfrm>
          <a:prstGeom prst="ellipse">
            <a:avLst/>
          </a:prstGeom>
          <a:solidFill>
            <a:srgbClr val="357DF1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2560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 </a:t>
            </a:r>
            <a:pPr indent="0" marL="0">
              <a:buNone/>
            </a:pPr>
            <a:r>
              <a:rPr lang="en-US" sz="1200" dirty="0">
                <a:solidFill>
                  <a:srgbClr val="9090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+ SQLite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" y="3172968"/>
            <a:ext cx="164592" cy="164592"/>
          </a:xfrm>
          <a:prstGeom prst="ellipse">
            <a:avLst/>
          </a:prstGeom>
          <a:solidFill>
            <a:srgbClr val="357DF1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3063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 </a:t>
            </a:r>
            <a:pPr indent="0" marL="0">
              <a:buNone/>
            </a:pPr>
            <a:r>
              <a:rPr lang="en-US" sz="1200" dirty="0">
                <a:solidFill>
                  <a:srgbClr val="9090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severity engine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68680" y="3675888"/>
            <a:ext cx="164592" cy="164592"/>
          </a:xfrm>
          <a:prstGeom prst="ellipse">
            <a:avLst/>
          </a:prstGeom>
          <a:solidFill>
            <a:srgbClr val="357DF1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3566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 </a:t>
            </a:r>
            <a:pPr indent="0" marL="0">
              <a:buNone/>
            </a:pPr>
            <a:r>
              <a:rPr lang="en-US" sz="1200" dirty="0">
                <a:solidFill>
                  <a:srgbClr val="9090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status pipeline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68680" y="4178808"/>
            <a:ext cx="164592" cy="164592"/>
          </a:xfrm>
          <a:prstGeom prst="ellipse">
            <a:avLst/>
          </a:prstGeom>
          <a:solidFill>
            <a:srgbClr val="357DF1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4069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 </a:t>
            </a:r>
            <a:pPr indent="0" marL="0">
              <a:buNone/>
            </a:pPr>
            <a:r>
              <a:rPr lang="en-US" sz="1200" dirty="0">
                <a:solidFill>
                  <a:srgbClr val="9090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Glass dark UI system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1463040"/>
            <a:ext cx="3840480" cy="3200400"/>
          </a:xfrm>
          <a:prstGeom prst="rect">
            <a:avLst/>
          </a:prstGeom>
          <a:solidFill>
            <a:srgbClr val="131B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1463040"/>
            <a:ext cx="54864" cy="32004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0" name="Text 18"/>
          <p:cNvSpPr/>
          <p:nvPr/>
        </p:nvSpPr>
        <p:spPr>
          <a:xfrm>
            <a:off x="507492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CLAUDE INTEGRATION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74920" y="2194560"/>
            <a:ext cx="164592" cy="16459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2" name="Text 20"/>
          <p:cNvSpPr/>
          <p:nvPr/>
        </p:nvSpPr>
        <p:spPr>
          <a:xfrm>
            <a:off x="5349240" y="2103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AE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Structures hazard reports for clarity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74920" y="2788920"/>
            <a:ext cx="164592" cy="16459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4" name="Text 22"/>
          <p:cNvSpPr/>
          <p:nvPr/>
        </p:nvSpPr>
        <p:spPr>
          <a:xfrm>
            <a:off x="5349240" y="2697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AE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Categorizes hazards by type &amp; severity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074920" y="3383280"/>
            <a:ext cx="164592" cy="16459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6" name="Text 24"/>
          <p:cNvSpPr/>
          <p:nvPr/>
        </p:nvSpPr>
        <p:spPr>
          <a:xfrm>
            <a:off x="5349240" y="3291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AE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submission quality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074920" y="3977640"/>
            <a:ext cx="164592" cy="16459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8" name="Text 26"/>
          <p:cNvSpPr/>
          <p:nvPr/>
        </p:nvSpPr>
        <p:spPr>
          <a:xfrm>
            <a:off x="5349240" y="3886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AE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Speeds up response workflows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4754880"/>
            <a:ext cx="8046720" cy="27432"/>
          </a:xfrm>
          <a:prstGeom prst="rect">
            <a:avLst/>
          </a:prstGeom>
          <a:solidFill>
            <a:srgbClr val="357DF1">
              <a:alpha val="3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090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"Simple, functional, and actually usable in real scenarios"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AD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ALIGNMENT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Empowering Students, Not Replacing Them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828800" cy="27432"/>
          </a:xfrm>
          <a:prstGeom prst="rect">
            <a:avLst/>
          </a:prstGeom>
          <a:solidFill>
            <a:srgbClr val="357DF1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63040"/>
            <a:ext cx="4572000" cy="822960"/>
          </a:xfrm>
          <a:prstGeom prst="rect">
            <a:avLst/>
          </a:prstGeom>
          <a:solidFill>
            <a:srgbClr val="171F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54864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🙋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80160" y="1554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Lowers Barriers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874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90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report a hazard — no forms, no gatekeepers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4572000" cy="822960"/>
          </a:xfrm>
          <a:prstGeom prst="rect">
            <a:avLst/>
          </a:prstGeom>
          <a:solidFill>
            <a:srgbClr val="171F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468880"/>
            <a:ext cx="54864" cy="822960"/>
          </a:xfrm>
          <a:prstGeom prst="rect">
            <a:avLst/>
          </a:prstGeom>
          <a:solidFill>
            <a:srgbClr val="ADC6FF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280160" y="2560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Hidden Issues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2880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90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hazards in underserved or overlooked areas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474720"/>
            <a:ext cx="4572000" cy="822960"/>
          </a:xfrm>
          <a:prstGeom prst="rect">
            <a:avLst/>
          </a:prstGeom>
          <a:solidFill>
            <a:srgbClr val="171F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474720"/>
            <a:ext cx="54864" cy="822960"/>
          </a:xfrm>
          <a:prstGeom prst="rect">
            <a:avLst/>
          </a:prstGeom>
          <a:solidFill>
            <a:srgbClr val="357DF1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280160" y="3566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Student-Driven Safety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3886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90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participation, not top-down enforcement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0" y="1463040"/>
            <a:ext cx="3291840" cy="3200400"/>
          </a:xfrm>
          <a:prstGeom prst="rect">
            <a:avLst/>
          </a:prstGeom>
          <a:solidFill>
            <a:srgbClr val="131B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0" y="1463040"/>
            <a:ext cx="54864" cy="3200400"/>
          </a:xfrm>
          <a:prstGeom prst="rect">
            <a:avLst/>
          </a:prstGeom>
          <a:solidFill>
            <a:srgbClr val="EB4141"/>
          </a:solidFill>
          <a:ln/>
        </p:spPr>
      </p:sp>
      <p:sp>
        <p:nvSpPr>
          <p:cNvPr id="22" name="Text 20"/>
          <p:cNvSpPr/>
          <p:nvPr/>
        </p:nvSpPr>
        <p:spPr>
          <a:xfrm>
            <a:off x="576072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B41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RISKS &amp; SAFEGUARDS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760720" y="2103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False reports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760720" y="2377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Moderation &amp; validation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760720" y="2926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Report misuse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760720" y="3200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Accountability systems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76072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Privacy concerns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760720" y="4023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Minimal data collection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4709160"/>
            <a:ext cx="8046720" cy="27432"/>
          </a:xfrm>
          <a:prstGeom prst="rect">
            <a:avLst/>
          </a:prstGeom>
          <a:solidFill>
            <a:srgbClr val="357DF1">
              <a:alpha val="3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090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"Expand access while maintaining trust and accountability"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AD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 &amp; WHAT'S NEXT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Prototype to Platform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828800" cy="27432"/>
          </a:xfrm>
          <a:prstGeom prst="rect">
            <a:avLst/>
          </a:prstGeom>
          <a:solidFill>
            <a:srgbClr val="357DF1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63040"/>
            <a:ext cx="3840480" cy="2926080"/>
          </a:xfrm>
          <a:prstGeom prst="rect">
            <a:avLst/>
          </a:prstGeom>
          <a:solidFill>
            <a:srgbClr val="171F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54864" cy="2926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WHAT WE BUILT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2057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DAE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hazard reporting platform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514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DAE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Auto-classification by severity &amp; team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2971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DAE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tracking pipeline (6 stages)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3429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DAE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with full oversight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3886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DAE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Polished Liquid Glass dark UI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463040"/>
            <a:ext cx="3840480" cy="2926080"/>
          </a:xfrm>
          <a:prstGeom prst="rect">
            <a:avLst/>
          </a:prstGeom>
          <a:solidFill>
            <a:srgbClr val="131B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463040"/>
            <a:ext cx="54864" cy="2926080"/>
          </a:xfrm>
          <a:prstGeom prst="rect">
            <a:avLst/>
          </a:prstGeom>
          <a:solidFill>
            <a:srgbClr val="ADC6FF"/>
          </a:solidFill>
          <a:ln/>
        </p:spPr>
      </p:sp>
      <p:sp>
        <p:nvSpPr>
          <p:cNvPr id="15" name="Text 13"/>
          <p:cNvSpPr/>
          <p:nvPr/>
        </p:nvSpPr>
        <p:spPr>
          <a:xfrm>
            <a:off x="507492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D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WHAT'S NEXT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74920" y="2057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AE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Image uploads for evidence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74920" y="2606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AE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Notifications to UVic services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74920" y="3154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AE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AI-powered classification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74920" y="3703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AE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Scale to other universities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286000" y="4572000"/>
            <a:ext cx="4572000" cy="457200"/>
          </a:xfrm>
          <a:prstGeom prst="rect">
            <a:avLst/>
          </a:prstGeom>
          <a:solidFill>
            <a:srgbClr val="357DF1">
              <a:alpha val="1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D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 Reporter — turning an underused system into something students will actually use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457200"/>
            <a:ext cx="5486400" cy="4572000"/>
          </a:xfrm>
          <a:prstGeom prst="ellipse">
            <a:avLst/>
          </a:prstGeom>
          <a:solidFill>
            <a:srgbClr val="357D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DC6FF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97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800" kern="0" dirty="0">
                <a:solidFill>
                  <a:srgbClr val="AD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0" y="15544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🖥️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In Action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3200400" y="3520440"/>
            <a:ext cx="2743200" cy="27432"/>
          </a:xfrm>
          <a:prstGeom prst="rect">
            <a:avLst/>
          </a:prstGeom>
          <a:solidFill>
            <a:srgbClr val="357DF1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3749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AE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 hazard → Auto-classify → Track resolution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4389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090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just submit a hazard with details and location, and it gets recorded instantly."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Hazard Reporter: Making UVic Safer Through Student Action</dc:title>
  <dc:subject>PptxGenJS Presentation</dc:subject>
  <dc:creator>Hazard Reporter Team</dc:creator>
  <cp:lastModifiedBy>Hazard Reporter Team</cp:lastModifiedBy>
  <cp:revision>1</cp:revision>
  <dcterms:created xsi:type="dcterms:W3CDTF">2026-03-22T00:40:23Z</dcterms:created>
  <dcterms:modified xsi:type="dcterms:W3CDTF">2026-03-22T00:40:23Z</dcterms:modified>
</cp:coreProperties>
</file>